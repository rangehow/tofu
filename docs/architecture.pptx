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0292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b="1" sz="2200">
                <a:solidFill>
                  <a:srgbClr val="0F172A"/>
                </a:solidFill>
                <a:latin typeface="Calibri"/>
              </a:rPr>
              <a:t>Tofu: A Five-Layer Agent Harness</a:t>
            </a:r>
          </a:p>
          <a:p>
            <a:pPr algn="ctr"/>
            <a:r>
              <a:rPr i="1" sz="1200">
                <a:solidFill>
                  <a:srgbClr val="64748B"/>
                </a:solidFill>
                <a:latin typeface="Cambria"/>
              </a:rPr>
              <a:t>Figure 1. System overview.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05840"/>
            <a:ext cx="1325880" cy="868680"/>
          </a:xfrm>
          <a:prstGeom prst="roundRect">
            <a:avLst>
              <a:gd name="adj" fmla="val 18000"/>
            </a:avLst>
          </a:prstGeom>
          <a:solidFill>
            <a:srgbClr val="FEF1E0"/>
          </a:solidFill>
          <a:ln w="17780">
            <a:solidFill>
              <a:srgbClr val="E2A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400">
                <a:solidFill>
                  <a:srgbClr val="7A3E06"/>
                </a:solidFill>
                <a:latin typeface="Calibri"/>
              </a:rPr>
              <a:t>Entry</a:t>
            </a:r>
          </a:p>
          <a:p>
            <a:pPr algn="ctr"/>
            <a:r>
              <a:rPr b="0" sz="800">
                <a:solidFill>
                  <a:srgbClr val="64748B"/>
                </a:solidFill>
                <a:latin typeface="Calibri"/>
              </a:rPr>
              <a:t>LAYER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005840"/>
            <a:ext cx="3152546" cy="868680"/>
          </a:xfrm>
          <a:prstGeom prst="roundRect">
            <a:avLst>
              <a:gd name="adj" fmla="val 12000"/>
            </a:avLst>
          </a:prstGeom>
          <a:solidFill>
            <a:srgbClr val="FFFBF3"/>
          </a:solidFill>
          <a:ln w="15240">
            <a:solidFill>
              <a:srgbClr val="E2A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Web UI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browser front-end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73954" y="1005840"/>
            <a:ext cx="3152546" cy="868680"/>
          </a:xfrm>
          <a:prstGeom prst="roundRect">
            <a:avLst>
              <a:gd name="adj" fmla="val 12000"/>
            </a:avLst>
          </a:prstGeom>
          <a:solidFill>
            <a:srgbClr val="FFFBF3"/>
          </a:solidFill>
          <a:ln w="15240">
            <a:solidFill>
              <a:srgbClr val="E2A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Group Bot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chat-app collaboration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6228" y="1005840"/>
            <a:ext cx="3152546" cy="868680"/>
          </a:xfrm>
          <a:prstGeom prst="roundRect">
            <a:avLst>
              <a:gd name="adj" fmla="val 12000"/>
            </a:avLst>
          </a:prstGeom>
          <a:solidFill>
            <a:srgbClr val="FFFBF3"/>
          </a:solidFill>
          <a:ln w="15240">
            <a:solidFill>
              <a:srgbClr val="E2A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Headless API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backend for third-party CLIs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39112"/>
            <a:ext cx="1325880" cy="868680"/>
          </a:xfrm>
          <a:prstGeom prst="roundRect">
            <a:avLst>
              <a:gd name="adj" fmla="val 18000"/>
            </a:avLst>
          </a:prstGeom>
          <a:solidFill>
            <a:srgbClr val="FBF3C8"/>
          </a:solidFill>
          <a:ln w="17780">
            <a:solidFill>
              <a:srgbClr val="C9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400">
                <a:solidFill>
                  <a:srgbClr val="6B4800"/>
                </a:solidFill>
                <a:latin typeface="Calibri"/>
              </a:rPr>
              <a:t>Orchestration</a:t>
            </a:r>
          </a:p>
          <a:p>
            <a:pPr algn="ctr"/>
            <a:r>
              <a:rPr b="0" sz="800">
                <a:solidFill>
                  <a:srgbClr val="64748B"/>
                </a:solidFill>
                <a:latin typeface="Calibri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039112"/>
            <a:ext cx="3152546" cy="868680"/>
          </a:xfrm>
          <a:prstGeom prst="roundRect">
            <a:avLst>
              <a:gd name="adj" fmla="val 12000"/>
            </a:avLst>
          </a:prstGeom>
          <a:solidFill>
            <a:srgbClr val="FFFDF0"/>
          </a:solidFill>
          <a:ln w="15240">
            <a:solidFill>
              <a:srgbClr val="C9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ReAct Loop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single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3954" y="2039112"/>
            <a:ext cx="3152546" cy="868680"/>
          </a:xfrm>
          <a:prstGeom prst="roundRect">
            <a:avLst>
              <a:gd name="adj" fmla="val 12000"/>
            </a:avLst>
          </a:prstGeom>
          <a:solidFill>
            <a:srgbClr val="FFFDF0"/>
          </a:solidFill>
          <a:ln w="15240">
            <a:solidFill>
              <a:srgbClr val="C9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Planner–Worker–Critic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three-role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36228" y="2039112"/>
            <a:ext cx="3152546" cy="868680"/>
          </a:xfrm>
          <a:prstGeom prst="roundRect">
            <a:avLst>
              <a:gd name="adj" fmla="val 12000"/>
            </a:avLst>
          </a:prstGeom>
          <a:solidFill>
            <a:srgbClr val="FFFDF0"/>
          </a:solidFill>
          <a:ln w="15240">
            <a:solidFill>
              <a:srgbClr val="C9A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Swarm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parallel specialist DAG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72384"/>
            <a:ext cx="1325880" cy="868680"/>
          </a:xfrm>
          <a:prstGeom prst="roundRect">
            <a:avLst>
              <a:gd name="adj" fmla="val 18000"/>
            </a:avLst>
          </a:prstGeom>
          <a:solidFill>
            <a:srgbClr val="E1ECFB"/>
          </a:solidFill>
          <a:ln w="17780">
            <a:solidFill>
              <a:srgbClr val="6A9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400">
                <a:solidFill>
                  <a:srgbClr val="1E3A8A"/>
                </a:solidFill>
                <a:latin typeface="Calibri"/>
              </a:rPr>
              <a:t>Context Engineering</a:t>
            </a:r>
          </a:p>
          <a:p>
            <a:pPr algn="ctr"/>
            <a:r>
              <a:rPr b="0" sz="800">
                <a:solidFill>
                  <a:srgbClr val="64748B"/>
                </a:solidFill>
                <a:latin typeface="Calibri"/>
              </a:rPr>
              <a:t>LAYER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072384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5F9FF"/>
          </a:solidFill>
          <a:ln w="15240">
            <a:solidFill>
              <a:srgbClr val="6A9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Prompt Assembly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system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8385" y="3072384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5F9FF"/>
          </a:solidFill>
          <a:ln w="15240">
            <a:solidFill>
              <a:srgbClr val="6A9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Compaction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three-layer compression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5091" y="3072384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5F9FF"/>
          </a:solidFill>
          <a:ln w="15240">
            <a:solidFill>
              <a:srgbClr val="6A9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Memory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cross-session knowledge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51797" y="3072384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5F9FF"/>
          </a:solidFill>
          <a:ln w="15240">
            <a:solidFill>
              <a:srgbClr val="6A9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Message Builder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DB to API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05656"/>
            <a:ext cx="1325880" cy="1280160"/>
          </a:xfrm>
          <a:prstGeom prst="roundRect">
            <a:avLst>
              <a:gd name="adj" fmla="val 18000"/>
            </a:avLst>
          </a:prstGeom>
          <a:solidFill>
            <a:srgbClr val="E6EAFC"/>
          </a:solidFill>
          <a:ln w="17780">
            <a:solidFill>
              <a:srgbClr val="7A8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400">
                <a:solidFill>
                  <a:srgbClr val="312E81"/>
                </a:solidFill>
                <a:latin typeface="Calibri"/>
              </a:rPr>
              <a:t>Tools &amp; Extensions</a:t>
            </a:r>
          </a:p>
          <a:p>
            <a:pPr algn="ctr"/>
            <a:r>
              <a:rPr b="0" sz="800">
                <a:solidFill>
                  <a:srgbClr val="64748B"/>
                </a:solidFill>
                <a:latin typeface="Calibri"/>
              </a:rPr>
              <a:t>LAYER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105656"/>
            <a:ext cx="9677095" cy="365760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3970">
            <a:solidFill>
              <a:srgbClr val="94A3B8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200">
                <a:solidFill>
                  <a:srgbClr val="0F172A"/>
                </a:solidFill>
                <a:latin typeface="Calibri"/>
              </a:rPr>
              <a:t>Tool-execution bus   dispatch  →  executor  →  handlers/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562856"/>
            <a:ext cx="2336977" cy="822959"/>
          </a:xfrm>
          <a:prstGeom prst="roundRect">
            <a:avLst>
              <a:gd name="adj" fmla="val 12000"/>
            </a:avLst>
          </a:prstGeom>
          <a:solidFill>
            <a:srgbClr val="F6F7FF"/>
          </a:solidFill>
          <a:ln w="15240">
            <a:solidFill>
              <a:srgbClr val="7A8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Project Co-pilot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code and shell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8385" y="4562856"/>
            <a:ext cx="2336977" cy="822959"/>
          </a:xfrm>
          <a:prstGeom prst="roundRect">
            <a:avLst>
              <a:gd name="adj" fmla="val 12000"/>
            </a:avLst>
          </a:prstGeom>
          <a:solidFill>
            <a:srgbClr val="F6F7FF"/>
          </a:solidFill>
          <a:ln w="15240">
            <a:solidFill>
              <a:srgbClr val="7A8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Search &amp; Fetch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web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5091" y="4562856"/>
            <a:ext cx="2336977" cy="822959"/>
          </a:xfrm>
          <a:prstGeom prst="roundRect">
            <a:avLst>
              <a:gd name="adj" fmla="val 12000"/>
            </a:avLst>
          </a:prstGeom>
          <a:solidFill>
            <a:srgbClr val="F6F7FF"/>
          </a:solidFill>
          <a:ln w="15240">
            <a:solidFill>
              <a:srgbClr val="7A8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Multi-modal I/O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image, PDF, browser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1797" y="4562856"/>
            <a:ext cx="2336977" cy="822959"/>
          </a:xfrm>
          <a:prstGeom prst="roundRect">
            <a:avLst>
              <a:gd name="adj" fmla="val 12000"/>
            </a:avLst>
          </a:prstGeom>
          <a:solidFill>
            <a:srgbClr val="F6F7FF"/>
          </a:solidFill>
          <a:ln w="15240">
            <a:solidFill>
              <a:srgbClr val="7A8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Human &amp; MCP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open extensions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50408"/>
            <a:ext cx="1325880" cy="868680"/>
          </a:xfrm>
          <a:prstGeom prst="roundRect">
            <a:avLst>
              <a:gd name="adj" fmla="val 18000"/>
            </a:avLst>
          </a:prstGeom>
          <a:solidFill>
            <a:srgbClr val="ECDEF9"/>
          </a:solidFill>
          <a:ln w="17780">
            <a:solidFill>
              <a:srgbClr val="A08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400">
                <a:solidFill>
                  <a:srgbClr val="4C1D95"/>
                </a:solidFill>
                <a:latin typeface="Calibri"/>
              </a:rPr>
              <a:t>LLM Dispatch</a:t>
            </a:r>
          </a:p>
          <a:p>
            <a:pPr algn="ctr"/>
            <a:r>
              <a:rPr b="0" sz="800">
                <a:solidFill>
                  <a:srgbClr val="64748B"/>
                </a:solidFill>
                <a:latin typeface="Calibri"/>
              </a:rPr>
              <a:t>LAYER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5550408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AF5FF"/>
          </a:solidFill>
          <a:ln w="15240">
            <a:solidFill>
              <a:srgbClr val="A08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Slot Pool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key ×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8385" y="5550408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AF5FF"/>
          </a:solidFill>
          <a:ln w="15240">
            <a:solidFill>
              <a:srgbClr val="A08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Unified API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fallback and retry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5091" y="5550408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AF5FF"/>
          </a:solidFill>
          <a:ln w="15240">
            <a:solidFill>
              <a:srgbClr val="A08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Discovery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capability registry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1797" y="5550408"/>
            <a:ext cx="2336977" cy="868680"/>
          </a:xfrm>
          <a:prstGeom prst="roundRect">
            <a:avLst>
              <a:gd name="adj" fmla="val 12000"/>
            </a:avLst>
          </a:prstGeom>
          <a:solidFill>
            <a:srgbClr val="FAF5FF"/>
          </a:solidFill>
          <a:ln w="15240">
            <a:solidFill>
              <a:srgbClr val="A08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b="1" sz="1300">
                <a:solidFill>
                  <a:srgbClr val="0F172A"/>
                </a:solidFill>
                <a:latin typeface="Calibri"/>
              </a:rPr>
              <a:t>Streaming Client</a:t>
            </a:r>
          </a:p>
          <a:p>
            <a:pPr algn="ctr"/>
            <a:r>
              <a:rPr i="1" sz="1000">
                <a:solidFill>
                  <a:srgbClr val="64748B"/>
                </a:solidFill>
                <a:latin typeface="Cambria"/>
              </a:rPr>
              <a:t>vendor-agnostic SSE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